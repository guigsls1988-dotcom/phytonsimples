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Abrir a reunião, confirmar a conclusão da implantação e alinhar o propósito da transição para a operação assistida.
CONTEÚDO RESUMIDO: Projeto TruckPag + Axur; encerramento da implementação; proteção da presença digital; resiliência digital ativada; julho de 2026.
SUGESTÃO VISUAL: Capa institucional em fundo azul-marinho, com lockup das três marcas e elemento orbital representando proteção contínua.
SPEAKER NOTES: Boa tarde. Obrigado pela presença da diretoria, gestores e equipes técnicas da TruckPag, Axur e Netfive. Esta reunião formaliza o encerramento da fase de implementação do Projeto TruckPag + Axur. Nosso objetivo hoje é apresentar o valor entregue, registrar o estágio operacional alcançado e alinhar a passagem para sustentação. A tecnologia está ativada, os ativos prioritários foram configurados e os fluxos de detecção e comunicação estão preparados. A partir deste marco, saímos de um projeto de implantação e entramos em um ciclo contínuo de monitoramento, resposta e evolução da postura de risco digital.
MENSAGEM-CHAVE: A implantação foi concluída; a proteção contínua começa agora.
TEMPO ESTIMADO: 1 min
ANIMAÇÃO SUGERIDA: Fade suave no título e, em seguida, no subtítulo. Sem transições chamativas.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Demonstrar a evolução do projeto, o fechamento dos marcos e a disponibilidade do ambiente operacional.
CONTEÚDO RESUMIDO: Linha do tempo: assinatura, kickoff, tenant, levantamento de ativos, configuração, follow-up, ajustes, validação final e conclusão — 100% concluído.
SUGESTÃO VISUAL: Linha do tempo horizontal com nove marcos; todos ativos e o marco final em verde.
SPEAKER NOTES: O projeto avançou por nove marcos de controle. Começamos com a formalização e o kickoff, estruturamos o tenant e conduzimos o levantamento dos ativos digitais relevantes para a TruckPag. Em seguida, configuramos os cenários de monitoramento, realizamos sessões de follow-up, refinamos parâmetros e concluímos a validação final. O marco em verde representa o aceite da fase de implantação. Isso significa que o ambiente está operacional, com cobertura inicial estabelecida e pronto para entrar na rotina de sustentação. A conclusão do cronograma não encerra o risco; ela encerra a construção da capacidade de monitorá-lo e responder a ele.
MENSAGEM-CHAVE: A implantação atingiu 100% dos marcos e entregou um ambiente operacional.
TEMPO ESTIMADO: 2 min
ANIMAÇÃO SUGERIDA: Wipe discreto da esquerda para a direita na linha do tempo; conclusão em verde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Apresentar a cobertura de Brand Protection e os cenários prioritários para a TruckPag.
CONTEÚDO RESUMIDO: Phishing relacionado a pedágio; uso indevido da marca por terceiros — Samsara, Edenred e Controle Fretes; domínios semelhantes, como truckpag.com. Benefícios: menor superfície de ataque, monitoramento contínuo, resposta rápida e maior visibilidade.
SUGESTÃO VISUAL: Três cards de risco à esquerda e um radar de superfície externa à direita.
SPEAKER NOTES: A primeira capacidade entregue é a proteção da marca no ambiente externo. O monitoramento foi orientado para três cenários: phishing relacionado a serviços de pedágio; uso indevido ou associação indevida da marca por terceiros, incluindo referências a Samsara, Edenred e Controle Fretes; e domínios semelhantes, com atenção a variações como truckpag.com. Esses sinais não devem ser tratados de forma automática como incidente confirmado. A validação contextual da TruckPag é essencial para diferenciar parceria legítima, menção autorizada e abuso. O valor está na combinação entre visibilidade contínua, priorização e resposta. Quanto menor o intervalo entre detecção, validação e ação, menor a janela de exposição de clientes e da marca.
MENSAGEM-CHAVE: Brand Protection transforma sinais externos dispersos em casos priorizados e acionáveis.
TEMPO ESTIMADO: 2 min
ANIMAÇÃO SUGERIDA: Entrada por Fade dos três cenários; radar aparece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Explicar o resultado sem achados e a importância da continuidade do monitoramento.
CONTEÚDO RESUMIDO: Nenhum resultado encontrado na validação final. A cobertura monitora credenciais, cartões, documentos, fóruns e mercados ilícitos para prevenir impacto reputacional e proteger clientes e colaboradores.
SUGESTÃO VISUAL: Reprodução visual de tela com a mensagem “Nenhum resultado encontrado” e lista de fontes monitoradas.
SPEAKER NOTES: Na frente de Deep &amp; Dark Web, o registro da validação final indica nenhum resultado encontrado. Este é o cenário desejado: não há sinal identificado, neste momento, nas categorias monitoradas. É importante separar ausência de achados de ausência de risco. Credenciais, cartões, documentos, fóruns e mercados ilícitos mudam continuamente. Por isso, o benefício está na vigilância recorrente e na capacidade de identificar exposição cedo, antes de fraude, comprometimento de contas ou dano reputacional. Para a diretoria, a leitura correta é: o cenário atual é favorável e existe agora uma capacidade ativa para detectar mudanças nesse cenário.
MENSAGEM-CHAVE: O cenário atual é favorável e permanece sob vigilância contínua.
TEMPO ESTIMADO: 2 min
ANIMAÇÃO SUGERIDA: Fade da moldura da plataforma; lista de fontes por aparecimento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Alinhar as responsabilidades imediatas da TruckPag após o encerramento da implantação.
CONTEÚDO RESUMIDO: Validar alertas de phishing, perfis falsos e uso indevido para permitir takedowns; implementar o One Pixel para ampliar a detecção automática.
SUGESTÃO VISUAL: Dois cards de ação e um ciclo operacional alerta–validação–takedown–aprendizado.
SPEAKER NOTES: A implantação está concluída, mas duas ações são essenciais para capturar o valor pleno. Primeiro, a TruckPag precisa validar rapidamente os alertas de phishing, perfis falsos e uso indevido da marca. A plataforma e a operação identificam o sinal; a TruckPag confirma o contexto de negócio e viabiliza o takedown quando aplicável. Segundo, recomendamos implementar o One Pixel. Essa telemetria amplia a capacidade de detectar automaticamente páginas que copiem elementos da presença digital legítima. Em conjunto, essas ações aceleram a resposta e melhoram a qualidade das detecções ao longo do tempo. É assim que a resiliência digital deixa de ser apenas uma configuração e passa a ser um processo vivo.
MENSAGEM-CHAVE: O valor operacional depende de uma decisão rápida da TruckPag e da ampliação de telemetria.
TEMPO ESTIMADO: 2 min
ANIMAÇÃO SUGERIDA: Cards com Fade; ciclo em quatro etapas com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Explicar como WhatsApp, API e e-mail conectam detecção, equipe e mitigação.
CONTEÚDO RESUMIDO: Fluxo: Axur → Detecção → API → WhatsApp → Equipe → Mitigação. E-mail mantém registro formal e a API permite automação.
SUGESTÃO VISUAL: Fluxo horizontal com seis nós e bloco inferior de canais.
SPEAKER NOTES: A integração foi desenhada para diminuir o tempo entre a descoberta e a ação. A Axur identifica e prioriza o sinal; a API permite encaminhar e orquestrar o evento; o WhatsApp acelera a mobilização; a equipe da TruckPag valida o contexto; e a mitigação é iniciada. O e-mail complementa o fluxo com registro formal e rastreabilidade. O ponto central não é apenas ter três canais, mas usar cada um para a finalidade correta: urgência no WhatsApp, automação na API e registro no e-mail. Essa arquitetura reduz dependência de consulta manual à plataforma e apoia um processo mais previsível.
MENSAGEM-CHAVE: A informação chega à equipe certa, no canal certo, para acelerar a mitigação.
TEMPO ESTIMADO: 2 min
ANIMAÇÃO SUGERIDA: Wipe da esquerda para a direita no fluxo; canais aparecem em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Apresentar o início da operação assistida, as rotinas de governança e os canais de suporte.
CONTEÚDO RESUMIDO: Sustentação, monitoramento contínuo, reuniões semanais, indicadores e evolução de riscos. Suporte: cti@netfive.com.br e WhatsApp (51) 99661-5601.
SUGESTÃO VISUAL: Manifesto operacional à esquerda e cinco componentes de governança à direita.
SPEAKER NOTES: Com o encerramento da implantação, iniciamos a operação assistida. A governança será organizada em cinco frentes: sustentação para dúvidas e ajustes; monitoramento contínuo dos riscos; reuniões semanais para priorização; indicadores para dar visibilidade a tempo, volume e efetividade; e acompanhamento da evolução dos riscos. A Netfive atua como ponto de coordenação operacional, em parceria com Axur e TruckPag. Para suporte, ficam formalizados o e-mail cti@netfive.com.br e o WhatsApp (51) 99661-5601. O objetivo da cadência semanal não é apenas revisar alertas, mas transformar dados em decisões e melhorias de cobertura.
MENSAGEM-CHAVE: Operação assistida inicia com canais, cadência e responsabilidades claras.
TEMPO ESTIMADO: 2 min
ANIMAÇÃO SUGERIDA: Fade do manifesto; itens de governança em sequência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Sintetizar os benefícios entregues em linguagem de negócio e segurança.
CONTEÚDO RESUMIDO: Proteção da marca, redução de phishing, Deep/Dark Web, inteligência de ameaças, automação, proteção reputacional, visibilidade de ativos, resposta rápida, governança e resiliência digital.
SUGESTÃO VISUAL: Dez cards numerados, agrupados em duas linhas, com uma cadeia de valor na base.
SPEAKER NOTES: O valor entregue pode ser resumido em dez benefícios. A TruckPag passa a ter proteção estruturada da marca e maior capacidade de identificar phishing; monitoramento de Deep e Dark Web; inteligência para contextualizar ameaças; automação e integrações; proteção reputacional; maior visibilidade dos ativos; resposta mais rápida; governança recorrente; e, como resultado agregado, resiliência digital. O ponto mais importante é que esses benefícios não funcionam isoladamente. A visibilidade alimenta a inteligência, a inteligência orienta a decisão, a decisão acelera a resposta e a governança garante evolução. Portanto, o projeto entrega uma capacidade operacional integrada, e não apenas acesso a uma plataforma.
MENSAGEM-CHAVE: A soma de tecnologia, processo e governança cria valor sustentável.
TEMPO ESTIMADO: 2 min
ANIMAÇÃO SUGERIDA: Cards com Fade por linha; cadeia de valor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Formalizar o encerramento, agradecer as equipes e marcar o início da jornada contínua.
CONTEÚDO RESUMIDO: A implantação foi concluída e inicia-se a fase contínua de monitoramento, evolução e melhoria.
SUGESTÃO VISUAL: Slide institucional em fundo escuro, com mensagem de transição e três pilares da nova fase.
SPEAKER NOTES: Encerramos formalmente a fase de implementação do Projeto TruckPag + Axur. Agradecemos à TruckPag pela confiança e participação nas validações, à Axur pela plataforma e apoio especializado, e à Netfive pela coordenação e integração da operação. O resultado deste projeto é uma capacidade ativada para proteger a presença digital da TruckPag. A partir de agora, o foco muda para monitoramento contínuo, evolução e melhoria. Nosso compromisso é manter o ambiente visível, os riscos priorizados e a resposta cada vez mais eficiente. Obrigado.
MENSAGEM-CHAVE: O projeto termina; a jornada contínua de resiliência digital começa.
TEMPO ESTIMADO: 1 min
ANIMAÇÃO SUGERIDA: Fade suave do título; três pilares aparecem juntos. Encerrar sem transição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Consolidar em uma página o status do projeto e as prioridades de gestão.
CONTEÚDO RESUMIDO: 100% da implantação concluída; três frentes de cobertura; três canais de integração; nenhum achado Deep/Dark Web na validação final; riscos residuais e prioridades D+30.
SUGESTÃO VISUAL: Quatro métricas no topo e três cards de síntese na base.
SPEAKER NOTES: Para a visão executiva: a implantação está 100% concluída. A capacidade cobre proteção de marca, Deep e Dark Web e inteligência de ameaças, com comunicação por API, WhatsApp e e-mail. Na validação final, não foram registrados achados de Deep e Dark Web, o que representa um cenário favorável. O risco residual está principalmente na necessidade de validação humana, na autorização para takedown e na ampliação da telemetria. Nos próximos 30 dias, as prioridades são acordar o SLA de validação, implementar o One Pixel, estabelecer o baseline dos indicadores e consolidar a cadência semanal.
MENSAGEM-CHAVE: Status verde, com ações operacionais claras para converter capacidade em resultado recorrente.
TEMPO ESTIMADO: 3 min
ANIMAÇÃO SUGERIDA: Métricas em conjunto; cards por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Apresentar os resultados verificáveis sem atribuir números não apurados.
CONTEÚDO RESUMIDO: Resultados em três pilares: tecnologia operacional, processo de triagem e takedown definido, e governança de sustentação ativada.
SUGESTÃO VISUAL: Três colunas com listas de entregas e status.
SPEAKER NOTES: Os resultados do projeto estão organizados em três pilares. Em tecnologia, temos tenant operacional, ativos prioritários cadastrados, cenários configurados e integrações previstas. Em processo, definimos triagem, validação pela TruckPag, condicionantes de takedown e acompanhamento. Em governança, iniciamos a operação assistida, formalizamos reuniões semanais e canais de suporte, e definimos o conjunto de KPIs. Não apresentamos números de incidentes ou tempos médios como resultado porque o baseline começa com a operação. Essa distinção preserva a integridade executiva do reporte.
MENSAGEM-CHAVE: As entregas são concretas; as métricas de desempenho serão estabelecidas no primeiro ciclo operacional.
TEMPO ESTIMADO: 2 min
ANIMAÇÃO SUGERIDA: Colunas por Fade, da esquerda para 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Apresentar os KPIs e a abordagem responsável para baseline e metas.
CONTEÚDO RESUMIDO: MTTD, MTTR, incidentes detectados, phishing identificado, takedowns, credenciais expostas, evolução da superfície de ataque e SLA de validação.
SUGESTÃO VISUAL: Oito cards de KPI com definição e status de medição; regra de gestão na base.
SPEAKER NOTES: Propomos um painel com oito indicadores. MTTD mede o tempo até a detecção; MTTR, o tempo entre validação e mitigação. Volume de incidentes e phishing mostra demanda e qualidade de detecção. Takedowns mede execução e efetividade. Credenciais expostas e superfície de ataque mostram a evolução do risco. O SLA de validação mede a participação operacional da TruckPag. Como a operação está começando, o primeiro ciclo deve estabelecer o baseline. Depois de dados reais, pactuamos metas com a diretoria e acompanhamos tendência. Isso evita metas arbitrárias e permite compromissos realistas por criticidade e canal.
MENSAGEM-CHAVE: KPIs tornam a operação gerenciável; baseline confiável precede metas.
TEMPO ESTIMADO: 3 min
ANIMAÇÃO SUGERIDA: Cards por linha; regra de gestão em Wipe.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Propor uma matriz RACI para a operação assistida e eliminar ambiguidades.
CONTEÚDO RESUMIDO: TruckPag valida contexto e autoriza takedown; Axur monitora e executa capacidades da plataforma; Netfive prioriza, coordena, acompanha e reporta.
SUGESTÃO VISUAL: Matriz RACI com seis atividades e três organizações.
SPEAKER NOTES: A transição exige clareza de papéis. A Axur é responsável pela capacidade de monitoramento, detecção e execução técnica suportada pela plataforma. A TruckPag é responsável por validar o contexto de negócio e aprovar takedowns, pois detém a autoridade sobre marca, parceiros e exceções. A Netfive coordena a operação, apoia a priorização, acompanha a mitigação e reporta indicadores e recomendações. Esta matriz é uma proposta para validação na primeira reunião semanal. O objetivo é simples: nenhum alerta deve ficar sem responsável, prazo ou decisão.
MENSAGEM-CHAVE: Responsabilidades explícitas reduzem a latência operacional.
TEMPO ESTIMADO: 2 min
ANIMAÇÃO SUGERIDA: Tabela sem animação; destaque por Fade nas linhas de validação e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Responder às principais perguntas da diretoria sobre conclusão, risco, responsabilidades, retorno e metas.
CONTEÚDO RESUMIDO: Seis perguntas e respostas executivas sobre implantação, risco residual, ausência de achados, dependências da TruckPag, medição de retorno e metas.
SUGESTÃO VISUAL: Grade de seis cards de pergunta e resposta.
SPEAKER NOTES: Este FAQ antecipa as principais dúvidas. A implantação terminou e o ambiente está operacional. Isso não significa risco zero: ameaças externas mudam e exigem monitoramento. Nenhum resultado encontrado é um registro favorável do momento e do escopo, não uma garantia permanente. A TruckPag tem papel ativo na validação e autorização, além da implementação do One Pixel. O retorno será medido pela evolução de tempos, volume confirmado, efetividade de takedowns e tendência de exposição. Metas numéricas serão propostas depois do baseline, para que sejam baseadas em evidência.
MENSAGEM-CHAVE: A expectativa correta é redução de exposição e aumento de capacidade, não risco zero.
TEMPO ESTIMADO: 4 min
ANIMAÇÃO SUGERIDA: Sem animação ou Fade único da grade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Orientar o apresentador sobre sequência, tempo e intenção de cada bloco.
CONTEÚDO RESUMIDO: Roteiro de 18–22 minutos: abertura, execução, capacidades, operação, valor, gestão, FAQ e encerramento.
SUGESTÃO VISUAL: Timeline vertical com tempos, blocos e instruções de fala.
SPEAKER NOTES: Conduza a apresentação em sete blocos. Abra confirmando o marco de encerramento. Depois, demonstre a disciplina da execução. Em seguida, explique as capacidades de proteção de marca e Deep/Dark Web. Passe para a operação, destacando dependências, integrações e governança. Consolide o valor e os resultados. Use o apêndice para detalhar KPIs, RACI e decisões dos próximos 30 dias. Finalize com o FAQ e a mensagem de transição. Mantenha os slides 10 a 16 como material de apoio; aprofunde apenas quando houver pergunta ou interesse específico.
MENSAGEM-CHAVE: Ritmo executivo: status → capacidade → valor → decisão → transição.
TEMPO ESTIMADO: 2 min
ANIMAÇÃO SUGERIDA: Wipe vertical discreto na timeline; sem animação nos textos.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SLIDE: Documentar as recomendações de design, tipografia, hierarquia e animação.
CONTEÚDO RESUMIDO: Paleta institucional, uso de Inter, regras de hierarquia e acessibilidade e sugestões de animações discretas.
SUGESTÃO VISUAL: Cinco cards de referência e uma regra de ouro.
SPEAKER NOTES: Para atualizações futuras, mantenha a paleta em azul-marinho, verde e azul, com fundo claro. Use Inter em toda a apresentação e preserve a hierarquia entre título, chamada e corpo. Limite cada slide a uma mensagem principal e priorize informação sobre decoração. Em animações, use Fade, Wipe e Aparecer, sempre em durações curtas. Evite efeitos que tirem a atenção da mensagem. A regra é simples: a animação deve explicar a sequência, e não disputar atenção com o conteúdo.
MENSAGEM-CHAVE: Design executivo é clareza, consistência e foco.
TEMPO ESTIMADO: 2 min
ANIMAÇÃO SUGERIDA: Slide de referência; não aplicar animação.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12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TRUCKPAG  ×  AXUR  ×  NETFIVE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829800" y="651052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spc="8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 • JULHO/2026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498080" y="-1005840"/>
            <a:ext cx="6035040" cy="6035040"/>
          </a:xfrm>
          <a:prstGeom prst="arc">
            <a:avLst/>
          </a:prstGeom>
          <a:solidFill>
            <a:srgbClr val="071A2B"/>
          </a:solidFill>
          <a:ln w="25400">
            <a:solidFill>
              <a:srgbClr val="18C58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412480" y="182880"/>
            <a:ext cx="4389120" cy="4389120"/>
          </a:xfrm>
          <a:prstGeom prst="arc">
            <a:avLst/>
          </a:prstGeom>
          <a:solidFill>
            <a:srgbClr val="071A2B"/>
          </a:solidFill>
          <a:ln w="25400">
            <a:solidFill>
              <a:srgbClr val="0F5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493776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49377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10" kern="0" dirty="0">
                <a:solidFill>
                  <a:srgbClr val="071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CLOSEOUT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TruckPag + Axur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21671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8C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Encerramento da Implementação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" y="2743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DA PRESENÇA DIGITAL  |  RESILIÊNCIA DIGITAL ATIVADA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" y="3310128"/>
            <a:ext cx="5120640" cy="0"/>
          </a:xfrm>
          <a:prstGeom prst="line">
            <a:avLst/>
          </a:prstGeom>
          <a:noFill/>
          <a:ln w="12700">
            <a:solidFill>
              <a:srgbClr val="365269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85216" y="35295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Julho/2026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1A8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da implantação • Transição para sustentação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26680" y="5925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TRUCKPAG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51392" y="5925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000" dirty="0"/>
          </a:p>
        </p:txBody>
      </p:sp>
      <p:pic>
        <p:nvPicPr>
          <p:cNvPr id="14" name="Image 0" descr="/workspace/assets/axur-logo-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6568" y="5971032"/>
            <a:ext cx="114300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360152" y="5925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000" dirty="0"/>
          </a:p>
        </p:txBody>
      </p:sp>
      <p:pic>
        <p:nvPicPr>
          <p:cNvPr id="16" name="Image 1" descr="/workspace/assets/netfive-log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2760" y="5943600"/>
            <a:ext cx="9601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" y="60807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spc="130" kern="0" dirty="0">
                <a:solidFill>
                  <a:srgbClr val="708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CONFIDENCIAL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30302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101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contrato à operação: nove marcos concluídos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controlada, validação conjunta e ambiente operacional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77240" y="2871216"/>
            <a:ext cx="10515600" cy="0"/>
          </a:xfrm>
          <a:prstGeom prst="line">
            <a:avLst/>
          </a:prstGeom>
          <a:noFill/>
          <a:ln w="25400">
            <a:solidFill>
              <a:srgbClr val="B9C7D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84248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09928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82696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08376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81144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306824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Levantamento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ativos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9592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05272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78040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03720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76488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02168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74936" y="2606040"/>
            <a:ext cx="530352" cy="53035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493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500616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73384" y="2606040"/>
            <a:ext cx="530352" cy="530352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7338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799064" y="32461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" y="4050792"/>
            <a:ext cx="10899648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367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920240" y="41970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CONCLUÍDA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20240" y="4462272"/>
            <a:ext cx="7086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ativo • ativos prioritários cadastrados • regras configuradas • validação final realizada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464040" y="431596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4624" y="431596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OPERACIONAL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Evidenciar disciplina de execução e formalizar a conclusão integral do escopo de implantação.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nove marcos foram percorridos; o ambiente está pronto para operar e evoluir.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PROTECTION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marca passa a ser monitorada além do perímetro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de abuso, priorização e resposta para reduzir exposição digital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34564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82496"/>
            <a:ext cx="64008" cy="1225296"/>
          </a:xfrm>
          <a:prstGeom prst="rect">
            <a:avLst/>
          </a:prstGeom>
          <a:solidFill>
            <a:srgbClr val="E44755"/>
          </a:solidFill>
          <a:ln w="12700">
            <a:solidFill>
              <a:srgbClr val="E447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310896" cy="310896"/>
          </a:xfrm>
          <a:prstGeom prst="ellipse">
            <a:avLst/>
          </a:prstGeom>
          <a:solidFill>
            <a:srgbClr val="E44755"/>
          </a:solidFill>
          <a:ln w="12700">
            <a:solidFill>
              <a:srgbClr val="E447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de pedágio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21284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Campanhas, páginas e comunicações fraudulentas relacionadas a serviços de pedágio.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4564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64008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264408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32278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indevido por terceiros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593592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e associações envolvendo Samsara, Edenred e Controle Fretes requerem validação contextual.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345643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43984"/>
            <a:ext cx="64008" cy="1078992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645152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" y="46085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 semelhantes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497433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 typosquatting e domínios similares, como truckpag.com.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51960" y="1682496"/>
            <a:ext cx="7479792" cy="3840480"/>
          </a:xfrm>
          <a:prstGeom prst="roundRect">
            <a:avLst>
              <a:gd name="adj" fmla="val 381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568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SUPERFÍCIE EXTERNA MONITORADA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28232" y="2212848"/>
            <a:ext cx="2880360" cy="2880360"/>
          </a:xfrm>
          <a:prstGeom prst="ellipse">
            <a:avLst/>
          </a:prstGeom>
          <a:solidFill>
            <a:srgbClr val="071A2B">
              <a:alpha val="0"/>
            </a:srgbClr>
          </a:solidFill>
          <a:ln w="25400">
            <a:solidFill>
              <a:srgbClr val="0F5FFF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5433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885432" y="2670048"/>
            <a:ext cx="1965960" cy="1965960"/>
          </a:xfrm>
          <a:prstGeom prst="ellipse">
            <a:avLst/>
          </a:prstGeom>
          <a:solidFill>
            <a:srgbClr val="071A2B">
              <a:alpha val="0"/>
            </a:srgbClr>
          </a:solidFill>
          <a:ln w="25400">
            <a:solidFill>
              <a:srgbClr val="18C58F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354330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06640" y="3191256"/>
            <a:ext cx="914400" cy="914400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19125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9738360" y="2423160"/>
            <a:ext cx="219456" cy="21945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8360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0067544" y="2423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VISIBILIDADE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738360" y="3182112"/>
            <a:ext cx="219456" cy="21945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38360" y="3182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10067544" y="31821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RÁPIDA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738360" y="3941064"/>
            <a:ext cx="219456" cy="21945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38360" y="3941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0067544" y="39410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24×7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738360" y="4700016"/>
            <a:ext cx="219456" cy="219456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38360" y="4700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0067544" y="470001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EXPOSIÇÃO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Demonstrar como a plataforma reduz risco de fraude, confusão de marca e exposição reputacional.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capacidade entregue amplia visibilidade e encurta o caminho entre abuso de marca e mitigação.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&amp; DARK WEB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achados é o cenário desejado — não o fim da vigilância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contínuo de sinais de exposição e comercialização ilícita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6720840" cy="3593592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6720840" cy="475488"/>
          </a:xfrm>
          <a:prstGeom prst="roundRect">
            <a:avLst>
              <a:gd name="adj" fmla="val 30769"/>
            </a:avLst>
          </a:prstGeom>
          <a:solidFill>
            <a:srgbClr val="0B263B"/>
          </a:solidFill>
          <a:ln w="12700">
            <a:solidFill>
              <a:srgbClr val="0B26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819656"/>
            <a:ext cx="91440" cy="91440"/>
          </a:xfrm>
          <a:prstGeom prst="ellipse">
            <a:avLst/>
          </a:prstGeom>
          <a:solidFill>
            <a:srgbClr val="E44755"/>
          </a:solidFill>
          <a:ln w="12700">
            <a:solidFill>
              <a:srgbClr val="E447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1819656"/>
            <a:ext cx="91440" cy="91440"/>
          </a:xfrm>
          <a:prstGeom prst="ellipse">
            <a:avLst/>
          </a:prstGeom>
          <a:solidFill>
            <a:srgbClr val="FFBE3D"/>
          </a:solidFill>
          <a:ln w="12700">
            <a:solidFill>
              <a:srgbClr val="FFB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819656"/>
            <a:ext cx="91440" cy="91440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755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&amp; Dark Web  /  Resultados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10712" y="2514600"/>
            <a:ext cx="804672" cy="804672"/>
          </a:xfrm>
          <a:prstGeom prst="ellipse">
            <a:avLst/>
          </a:prstGeom>
          <a:solidFill>
            <a:srgbClr val="DDF8EF"/>
          </a:solidFill>
          <a:ln w="12700">
            <a:solidFill>
              <a:srgbClr val="DDF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514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47088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resultado encontrado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39227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registrado na validação final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40864" y="4370832"/>
            <a:ext cx="2944368" cy="301752"/>
          </a:xfrm>
          <a:prstGeom prst="roundRect">
            <a:avLst>
              <a:gd name="adj" fmla="val 48485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40864" y="437083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IDEAL • MONITORAMENTO ATIVO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516368" y="1810512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73568" y="1682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Credenciais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3568" y="19568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Contas e combinações expostas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973568" y="2313432"/>
            <a:ext cx="345643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516368" y="2560320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973568" y="2432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Cartões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financeiros comprometidos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73568" y="3063240"/>
            <a:ext cx="345643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516368" y="3310128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973568" y="3182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3456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sensíveis publicadas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973568" y="3813048"/>
            <a:ext cx="345643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7516368" y="4059936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973568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Fóruns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73568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Menções e planejamento adversário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73568" y="4562856"/>
            <a:ext cx="345643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7516368" y="4809744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973568" y="4681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Mercados ilícitos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73568" y="4956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ou venda de dados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Registrar o cenário atual e reforçar por que a vigilância contínua reduz risco preventivamente.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achado é uma boa notícia; manter a capacidade de descobrir cedo é a proteção real.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ações destravam o valor pleno da operação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implantação terminou; a eficácia depende de validação e telemetria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074920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64008" cy="2176272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920240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Validar alertas com agilidade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24942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ou descartar phishing, perfis falsos e uso indevido da marca. A validação da TruckPag autoriza o fluxo de takedown e reduz falsos positivos.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42432" y="1719072"/>
            <a:ext cx="5074920" cy="2176272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42432" y="1719072"/>
            <a:ext cx="64008" cy="2176272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52744" y="1920240"/>
            <a:ext cx="310896" cy="310896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82512" y="18836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Implementar o One Pixel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98464" y="2249424"/>
            <a:ext cx="4617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telemetria para ampliar a detecção automática de cópias e páginas fraudulentas, acelerando a descoberta de campanhas.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5840" y="4617720"/>
            <a:ext cx="9875520" cy="0"/>
          </a:xfrm>
          <a:prstGeom prst="line">
            <a:avLst/>
          </a:prstGeom>
          <a:noFill/>
          <a:ln w="25400">
            <a:solidFill>
              <a:srgbClr val="B7C6D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60120" y="4379976"/>
            <a:ext cx="475488" cy="47548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36192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21608" y="4379976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97680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83096" y="4379976"/>
            <a:ext cx="475488" cy="475488"/>
          </a:xfrm>
          <a:prstGeom prst="ellipse">
            <a:avLst/>
          </a:prstGeom>
          <a:solidFill>
            <a:srgbClr val="E44755"/>
          </a:solidFill>
          <a:ln w="12700">
            <a:solidFill>
              <a:srgbClr val="E447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9168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TAKEDOWN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244584" y="4379976"/>
            <a:ext cx="475488" cy="47548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20656" y="4480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98848" y="5148072"/>
            <a:ext cx="288036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514807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RESILIÊNCIA DIGITAL ATIVADA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Converter a capacidade implantada em resposta efetiva e aumento contínuo da cobertura.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rápida e One Pixel são os próximos habilitadores de eficácia.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16586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964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INTEGRAÇÕES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conectada à equipe reduz o tempo de exposição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WhatsApp, API e e-mail suportam comunicação multicanal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50392" y="2048256"/>
            <a:ext cx="841248" cy="841248"/>
          </a:xfrm>
          <a:prstGeom prst="ellipse">
            <a:avLst/>
          </a:prstGeom>
          <a:solidFill>
            <a:srgbClr val="0B263B"/>
          </a:solidFill>
          <a:ln w="12700">
            <a:solidFill>
              <a:srgbClr val="0B2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 de inteligência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75104" y="2350008"/>
            <a:ext cx="384048" cy="256032"/>
          </a:xfrm>
          <a:prstGeom prst="chevron">
            <a:avLst/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048256"/>
            <a:ext cx="841248" cy="8412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50008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0008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 priorizado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13632" y="2350008"/>
            <a:ext cx="384048" cy="256032"/>
          </a:xfrm>
          <a:prstGeom prst="chevron">
            <a:avLst/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2048256"/>
            <a:ext cx="841248" cy="841248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88536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88536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52160" y="2350008"/>
            <a:ext cx="384048" cy="256032"/>
          </a:xfrm>
          <a:prstGeom prst="chevron">
            <a:avLst/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65976" y="2048256"/>
            <a:ext cx="841248" cy="84124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65976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27064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 imediato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790688" y="2350008"/>
            <a:ext cx="384048" cy="256032"/>
          </a:xfrm>
          <a:prstGeom prst="chevron">
            <a:avLst/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4504" y="2048256"/>
            <a:ext cx="841248" cy="8412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4504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65592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65592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humana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729216" y="2350008"/>
            <a:ext cx="384048" cy="256032"/>
          </a:xfrm>
          <a:prstGeom prst="chevron">
            <a:avLst/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43032" y="2048256"/>
            <a:ext cx="841248" cy="84124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43032" y="20482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104120" y="30632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04120" y="33558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Takedown / ação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05840" y="4160520"/>
            <a:ext cx="10149840" cy="1042416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98448" y="4416552"/>
            <a:ext cx="411480" cy="41148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98448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65376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65376" y="457200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Urgência e mobilização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4553712" y="4416552"/>
            <a:ext cx="411480" cy="411480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{}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0640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20640" y="457200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e rastreabilidade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808976" y="4416552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75904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375904" y="457200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 comunicação formal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Demonstrar o fluxo integrado de comunicação e o ganho potencial em velocidade de resposta.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integração leva a inteligência ao canal de decisão — sem depender de consulta manual.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assistida conecta rotina, decisão e evolução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semanal e indicadores tornam o risco gerenciável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3749040" cy="3584448"/>
          </a:xfrm>
          <a:prstGeom prst="roundRect">
            <a:avLst>
              <a:gd name="adj" fmla="val 4082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84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ASSISTIDA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Evoluir.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8C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ciclo de melhoria contínua, com visibilidade executiva e disciplina operacional.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99432" y="1755648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74920" y="168249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Sustentação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9168" y="16824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dúvidas, ajustes e chamados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74920" y="2203704"/>
            <a:ext cx="629107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599432" y="2459736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74920" y="238658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contínuo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9168" y="23865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dos riscos externos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74920" y="2907792"/>
            <a:ext cx="629107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99432" y="3163824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74920" y="30906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Reuniões semanais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59168" y="30906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Priorização e desbloqueio de decisões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74920" y="3611880"/>
            <a:ext cx="629107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599432" y="3867912"/>
            <a:ext cx="310896" cy="310896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74920" y="379476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59168" y="37947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MTTD, MTTR, volume e efetividade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74920" y="4315968"/>
            <a:ext cx="6291072" cy="0"/>
          </a:xfrm>
          <a:prstGeom prst="line">
            <a:avLst/>
          </a:prstGeom>
          <a:noFill/>
          <a:ln w="10160">
            <a:solidFill>
              <a:srgbClr val="EAF0F5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599432" y="4572000"/>
            <a:ext cx="310896" cy="310896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74920" y="449884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dos riscos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9168" y="44988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Tendências, cobertura e recomendações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599432" y="4681728"/>
            <a:ext cx="6766560" cy="585216"/>
          </a:xfrm>
          <a:prstGeom prst="roundRect">
            <a:avLst>
              <a:gd name="adj" fmla="val 1875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7640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9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669280" y="47183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cti@netfive.com.br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321040" y="47183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 (51) 99661-5601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Formalizar a entrada em sustentação, a cadência de governança e os canais de suporte.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governança sustenta a capacidade técnica e transforma eventos em decisões.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ENTREGUE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Dez benefícios consolidam a nova capacidade de DRP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Tecnologia, processo e governança combinados para reduzir risco digital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700784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65376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da marca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Abuso e impersonação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52344" y="1700784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6936" y="1865376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6936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16936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phishing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16936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Sinais priorizados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0" y="1700784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1865376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93792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&amp; Dark Web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 monitorada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06056" y="1700784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0648" y="1865376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0648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470648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Intelligence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70648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para decisão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582912" y="1700784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7504" y="1865376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7504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747504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47504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Integrações e escala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88" y="3410712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575304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40080" y="4041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reputacional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janela de dano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52344" y="3410712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16936" y="3575304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16936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916936" y="4041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Visibilidade de ativos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16936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Superfície conhecida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0" y="3410712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93792" y="3575304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193792" y="4041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rápida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9379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 acionáveis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06056" y="3410712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0648" y="3575304"/>
            <a:ext cx="329184" cy="329184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064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470648" y="4041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70648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e indicadores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582912" y="3410712"/>
            <a:ext cx="204825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47504" y="3575304"/>
            <a:ext cx="329184" cy="329184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47504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9747504" y="40416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Resiliência digital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747504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contínua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75488" y="4983480"/>
            <a:ext cx="11155680" cy="484632"/>
          </a:xfrm>
          <a:prstGeom prst="roundRect">
            <a:avLst>
              <a:gd name="adj" fmla="val 24528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983480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ATIVADA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313432" y="4983480"/>
            <a:ext cx="8869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antes  →  decidir com contexto  →  responder com velocidade  →  aprender continuamente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Consolidar os benefícios de negócio e operação entregues pelo projeto.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entrega uma capacidade integrada — não apenas uma ferramenta.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90" kern="0" dirty="0">
                <a:solidFill>
                  <a:srgbClr val="071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DE TRANSIÇÃO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21792" y="1444752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concluída.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Resiliência digital ativada.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321868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Agradecemos à TruckPag, Axur e Netfive pela parceria, confiança e colaboração ao longo da implementação.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4361688"/>
            <a:ext cx="2212848" cy="594360"/>
          </a:xfrm>
          <a:prstGeom prst="roundRect">
            <a:avLst>
              <a:gd name="adj" fmla="val 18462"/>
            </a:avLst>
          </a:prstGeom>
          <a:solidFill>
            <a:srgbClr val="102E45"/>
          </a:solidFill>
          <a:ln w="12700">
            <a:solidFill>
              <a:srgbClr val="102E4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526280"/>
            <a:ext cx="256032" cy="256032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179576" y="4489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191256" y="4361688"/>
            <a:ext cx="2212848" cy="594360"/>
          </a:xfrm>
          <a:prstGeom prst="roundRect">
            <a:avLst>
              <a:gd name="adj" fmla="val 18462"/>
            </a:avLst>
          </a:prstGeom>
          <a:solidFill>
            <a:srgbClr val="102E45"/>
          </a:solidFill>
          <a:ln w="12700">
            <a:solidFill>
              <a:srgbClr val="102E4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452628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712464" y="4489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724144" y="4361688"/>
            <a:ext cx="2212848" cy="594360"/>
          </a:xfrm>
          <a:prstGeom prst="roundRect">
            <a:avLst>
              <a:gd name="adj" fmla="val 18462"/>
            </a:avLst>
          </a:prstGeom>
          <a:solidFill>
            <a:srgbClr val="0F493F"/>
          </a:solidFill>
          <a:ln w="12700">
            <a:solidFill>
              <a:srgbClr val="0F493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8736" y="4526280"/>
            <a:ext cx="256032" cy="256032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245352" y="4489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CONTÍNUA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549640" y="960120"/>
            <a:ext cx="2651760" cy="2651760"/>
          </a:xfrm>
          <a:prstGeom prst="ellipse">
            <a:avLst/>
          </a:prstGeom>
          <a:solidFill>
            <a:srgbClr val="071A2B">
              <a:alpha val="0"/>
            </a:srgbClr>
          </a:solidFill>
          <a:ln w="25400">
            <a:solidFill>
              <a:srgbClr val="18C58F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5128" y="1435608"/>
            <a:ext cx="1700784" cy="1700784"/>
          </a:xfrm>
          <a:prstGeom prst="ellipse">
            <a:avLst/>
          </a:prstGeom>
          <a:solidFill>
            <a:srgbClr val="18C58F">
              <a:alpha val="8000"/>
            </a:srgbClr>
          </a:solidFill>
          <a:ln w="25400">
            <a:solidFill>
              <a:srgbClr val="0F5FFF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28048" y="1938528"/>
            <a:ext cx="694944" cy="694944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1938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35824" y="5943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TRUCKPAG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0536" y="59436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000" dirty="0"/>
          </a:p>
        </p:txBody>
      </p:sp>
      <p:pic>
        <p:nvPicPr>
          <p:cNvPr id="24" name="Image 0" descr="/workspace/assets/axur-logo-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5712" y="5989320"/>
            <a:ext cx="1143000" cy="1371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369296" y="59436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000" dirty="0"/>
          </a:p>
        </p:txBody>
      </p:sp>
      <p:pic>
        <p:nvPicPr>
          <p:cNvPr id="26" name="Image 1" descr="/workspace/assets/netfive-log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1904" y="5961888"/>
            <a:ext cx="9601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8368" y="5961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APÊNDICE EXECUTIVO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 | 1 página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Decisão, valor, risco residual e prioridade dos próximos 30 dias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48716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7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2267712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CONCLUÍDA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108960" y="1627632"/>
            <a:ext cx="248716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73736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7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frentes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10128" y="2267712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• D&amp;DW • CTI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760720" y="1627632"/>
            <a:ext cx="248716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173736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7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961888" y="1920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canais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61888" y="2267712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• WHATSAPP • E-MAIL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8412480" y="1627632"/>
            <a:ext cx="28620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1737360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7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&amp; DARK WEB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8613648" y="1920240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achados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13648" y="2267712"/>
            <a:ext cx="2459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VALIDAÇÃO FINAL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57200" y="2761488"/>
            <a:ext cx="345643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61488"/>
            <a:ext cx="64008" cy="2212848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92608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foi entregue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" y="3291840"/>
            <a:ext cx="29992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e ativos configurados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Cenários de marca monitorados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 de comunicação definidos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de sustentação ativada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42232" y="2761488"/>
            <a:ext cx="345643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42232" y="2761488"/>
            <a:ext cx="64008" cy="22128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292608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residual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98264" y="3291840"/>
            <a:ext cx="29992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humana continua necessária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Takedown depende de autorização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cresce com telemetria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Ameaças externas seguem dinâmicas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27264" y="2761488"/>
            <a:ext cx="345643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7264" y="2761488"/>
            <a:ext cx="64008" cy="2212848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292608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 D+30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083296" y="3291840"/>
            <a:ext cx="29992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Acordar SLA de validação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Implantar One Pixel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Estabelecer baseline dos KPIs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Rodar cadência semanal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Dar à diretoria uma visão única do status, valor, riscos e decisões imediatas.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capacidade está ativa; o foco executivo agora é velocidade de validação e disciplina operacional.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Principais resultados do projeto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verificáveis organizadas por tecnologia, processo e governança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719072"/>
            <a:ext cx="3401568" cy="3593592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719072"/>
            <a:ext cx="3401568" cy="566928"/>
          </a:xfrm>
          <a:prstGeom prst="roundRect">
            <a:avLst>
              <a:gd name="adj" fmla="val 22581"/>
            </a:avLst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569464"/>
            <a:ext cx="246888" cy="24688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694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115568" y="25054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operacional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31520" y="3172968"/>
            <a:ext cx="246888" cy="24688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115568" y="3108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Ativos prioritários cadastrados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31520" y="3776472"/>
            <a:ext cx="246888" cy="24688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764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115568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Cenários de monitoramento configurados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31520" y="4379976"/>
            <a:ext cx="246888" cy="24688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799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115568" y="4315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Integrações multicanal previstas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2889504" cy="246888"/>
          </a:xfrm>
          <a:prstGeom prst="roundRect">
            <a:avLst>
              <a:gd name="adj" fmla="val 48148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28032"/>
            <a:ext cx="2889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ATIVA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242816" y="1719072"/>
            <a:ext cx="3401568" cy="3593592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42816" y="1719072"/>
            <a:ext cx="3401568" cy="566928"/>
          </a:xfrm>
          <a:prstGeom prst="roundRect">
            <a:avLst>
              <a:gd name="adj" fmla="val 2258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98848" y="2569464"/>
            <a:ext cx="246888" cy="2468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5694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4882896" y="25054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triagem definido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498848" y="3172968"/>
            <a:ext cx="246888" cy="2468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4882896" y="3108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TruckPag requerida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498848" y="3776472"/>
            <a:ext cx="246888" cy="2468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37764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4882896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Takedown condicionado ao aceite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498848" y="4379976"/>
            <a:ext cx="246888" cy="2468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43799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4882896" y="4315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Rotina de acompanhamento estruturada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498848" y="4828032"/>
            <a:ext cx="2889504" cy="246888"/>
          </a:xfrm>
          <a:prstGeom prst="roundRect">
            <a:avLst>
              <a:gd name="adj" fmla="val 48148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4828032"/>
            <a:ext cx="2889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DEFINIDO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010144" y="1719072"/>
            <a:ext cx="3401568" cy="3593592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10144" y="1719072"/>
            <a:ext cx="3401568" cy="566928"/>
          </a:xfrm>
          <a:prstGeom prst="roundRect">
            <a:avLst>
              <a:gd name="adj" fmla="val 22581"/>
            </a:avLst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66176" y="2569464"/>
            <a:ext cx="246888" cy="24688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66176" y="25694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8650224" y="25054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assistida iniciada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8266176" y="3172968"/>
            <a:ext cx="246888" cy="24688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66176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8650224" y="3108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Reuniões semanais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8266176" y="3776472"/>
            <a:ext cx="246888" cy="24688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66176" y="37764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8650224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Canais de suporte formalizados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8266176" y="4379976"/>
            <a:ext cx="246888" cy="24688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66176" y="43799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8650224" y="4315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definidos para baseline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8266176" y="4828032"/>
            <a:ext cx="2889504" cy="246888"/>
          </a:xfrm>
          <a:prstGeom prst="roundRect">
            <a:avLst>
              <a:gd name="adj" fmla="val 48148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66176" y="4828032"/>
            <a:ext cx="2889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ATIVA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Distinguir fatos entregues de métricas ainda em processo de baseline.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entrega tecnologia configurada, processo definido e governança ativada.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16586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964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para medir risco, velocidade e efetividade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no primeiro ciclo; metas aprovadas após dados reais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73352"/>
            <a:ext cx="64008" cy="1307592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8196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2139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entre primeira evidência e detecção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76656" y="26151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151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APURAR D+30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00984" y="1673352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673352"/>
            <a:ext cx="64008" cy="1307592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8196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139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entre validação e mitigação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3520440" y="26151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6151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APURAR D+30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144768" y="1673352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1673352"/>
            <a:ext cx="64008" cy="1307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8196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 detectados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2139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por severidade e origem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364224" y="26151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6151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MENSAL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988552" y="1673352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8552" y="1673352"/>
            <a:ext cx="64008" cy="1307592"/>
          </a:xfrm>
          <a:prstGeom prst="rect">
            <a:avLst/>
          </a:prstGeom>
          <a:solidFill>
            <a:srgbClr val="E44755"/>
          </a:solidFill>
          <a:ln w="12700">
            <a:solidFill>
              <a:srgbClr val="E4475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8008" y="18196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identificado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08008" y="2139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confirmados / sinais avaliados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9208008" y="26151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26151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E447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DE CONFIRMAÇÃO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264408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264408"/>
            <a:ext cx="64008" cy="1307592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341071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Takedowns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73075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Solicitados, concluídos e tempo por canal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676656" y="4206240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206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EFETIVIDADE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00984" y="3264408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00984" y="3264408"/>
            <a:ext cx="64008" cy="1307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341071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Credenciais expostas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20440" y="373075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Novas, recorrentes e criticidade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3520440" y="4206240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4206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TENDÊNCIA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44768" y="3264408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4768" y="3264408"/>
            <a:ext cx="64008" cy="1307592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341071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Superfície de ataque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64224" y="373075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Ativos novos, removidos e monitorados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6364224" y="4206240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4808" y="4206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LÍQUIDA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988552" y="3264408"/>
            <a:ext cx="258775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88552" y="3264408"/>
            <a:ext cx="64008" cy="1307592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08008" y="341071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de validação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208008" y="373075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respondidos dentro do acordo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9208008" y="4206240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4206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META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7200" y="4983480"/>
            <a:ext cx="11109960" cy="521208"/>
          </a:xfrm>
          <a:prstGeom prst="roundRect">
            <a:avLst>
              <a:gd name="adj" fmla="val 21053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4983480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GESTÃO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2148840" y="4983480"/>
            <a:ext cx="8961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 →  estabelecer baseline  →  pactuar meta  →  acompanhar tendência  →  corrigir desvio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Definir o painel de gestão sem criar metas arbitrárias antes do baseline.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primeiro mês, qualidade do baseline é mais importante que uma meta sem evidência.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02870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827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TRANSIÇÃO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operacional e responsabilidades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Clareza de papéis reduz latência e evita alertas sem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37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16752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TRUCKPAG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845552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AXUR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674352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NETFIVE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30352" y="224028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 fontes e detectar sinais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016752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45552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74352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2715768"/>
            <a:ext cx="11064240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715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Enriquecer e priorizar alertas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6016752" y="2715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45552" y="2715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74352" y="2715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" y="319125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19125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contexto de negócio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6016752" y="31912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45552" y="31912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74352" y="31912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" y="3666744"/>
            <a:ext cx="11064240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6667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Autorizar takedown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6016752" y="3666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45552" y="3666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74352" y="3666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" y="4142232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1422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Executar e acompanhar mitigação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6016752" y="4142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45552" y="4142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74352" y="41422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" y="4617720"/>
            <a:ext cx="11064240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4617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Reportar KPIs e recomendações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6016752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45552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74352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52303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Responsável   •   A = Accountable / aprovador   •   C = Consultado   •   I = Informado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778240" y="5166360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78824" y="51663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RACI NA 1ª REUNIÃO SEMANAL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Alinhar a proposta de papéis para que cada alerta tenha responsável e aprovador.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TruckPag decide o contexto e autoriza; Axur detecta; Netfive coordena e reporta.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30302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101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 DIRETORIA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que orientam a decisão executiva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 objetivas sobre status, risco, responsabilidade e valor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664208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28800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1773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implantação terminou?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115568" y="2103120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Sim. Os nove marcos foram concluídos e o ambiente está operacional.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135624" y="1664208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75704" y="1773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Estamos livres de risco digital?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775704" y="2103120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Não. A capacidade reduz tempo de descoberta e resposta; o risco externo permanece dinâmico.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75488" y="2916936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081528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" y="30266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“Nenhum resultado” significa ausência de risco?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15568" y="3355848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 ausência de achado no momento da validação, sob o escopo monitorado.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135624" y="2916936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81528"/>
            <a:ext cx="292608" cy="2926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75704" y="30266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depende da TruckPag?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775704" y="3355848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alertas, autorizar takedowns, apoiar o One Pixel e cumprir a cadência.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475488" y="4169664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334256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mediremos retorno?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115568" y="4608576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tendência de MTTD/MTTR, volume confirmado, takedowns e redução da exposição.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6135624" y="4169664"/>
            <a:ext cx="539496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334256"/>
            <a:ext cx="292608" cy="29260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75704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haverá metas numéricas?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775704" y="4608576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Após o baseline do primeiro ciclo operacional e validação da governança.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Antecipar dúvidas executivas e reforçar uma leitura realista de risco e resultado.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reduz incerteza e tempo de exposição; não elimina a necessidade de gestão contínua.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98882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17876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 DO APRESENTADOR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Condução sugerida | 18–22 minutos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de fala para manter foco em valor, decisão e transição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52728" y="1856232"/>
            <a:ext cx="0" cy="3401568"/>
          </a:xfrm>
          <a:prstGeom prst="line">
            <a:avLst/>
          </a:prstGeom>
          <a:noFill/>
          <a:ln w="25400">
            <a:solidFill>
              <a:srgbClr val="B9C7D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60704" y="1636776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" y="16367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00–01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664208" y="1636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227832" y="163677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o encerramento e o objetivo da reunião.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1060704" y="2167128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5488" y="216712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01–03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664208" y="216712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227832" y="216712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Percorrer os nove marcos e registrar o status 100%.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060704" y="2697480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" y="26974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03–07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664208" y="2697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227832" y="269748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Protection e Deep/Dark Web: cobertura e cenário atual.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1060704" y="3227832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" y="3227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07–11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664208" y="322783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27832" y="322783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passos, integrações e governança assistida.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1060704" y="3758184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5488" y="37581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11–15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664208" y="3758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227832" y="375818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Benefícios, resultados e síntese executiva.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1060704" y="4288536"/>
            <a:ext cx="384048" cy="384048"/>
          </a:xfrm>
          <a:prstGeom prst="ellipse">
            <a:avLst/>
          </a:prstGeom>
          <a:solidFill>
            <a:srgbClr val="0F5FFF"/>
          </a:solidFill>
          <a:ln w="12700">
            <a:solidFill>
              <a:srgbClr val="0F5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" y="42885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15–18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664208" y="428853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227832" y="428853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KPIs, responsabilidades e decisões D+30.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60704" y="4818888"/>
            <a:ext cx="384048" cy="384048"/>
          </a:xfrm>
          <a:prstGeom prst="ellipse">
            <a:avLst/>
          </a:prstGeom>
          <a:solidFill>
            <a:srgbClr val="18C58F"/>
          </a:solidFill>
          <a:ln w="12700">
            <a:solidFill>
              <a:srgbClr val="18C5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5488" y="48188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18–22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664208" y="481888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 + FECHO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227832" y="481888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 dúvidas e reforçar a nova fase contínua.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475488" y="5449824"/>
            <a:ext cx="11045952" cy="310896"/>
          </a:xfrm>
          <a:prstGeom prst="roundRect">
            <a:avLst>
              <a:gd name="adj" fmla="val 29412"/>
            </a:avLst>
          </a:prstGeom>
          <a:solidFill>
            <a:srgbClr val="FFF0E9"/>
          </a:solidFill>
          <a:ln w="12700">
            <a:solidFill>
              <a:srgbClr val="FFF0E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4498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298448" y="5449824"/>
            <a:ext cx="9765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os slides 10–16 como apêndice: aprofunde apenas conforme o interesse da audiência.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Dar ao apresentador um roteiro completo, com ritmo e mensagens por bloco.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Conduza a reunião do status para o valor e encerre com decisões práticas.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1165860" cy="256032"/>
          </a:xfrm>
          <a:prstGeom prst="roundRect">
            <a:avLst>
              <a:gd name="adj" fmla="val 50000"/>
            </a:avLst>
          </a:prstGeom>
          <a:solidFill>
            <a:srgbClr val="DDF8EF"/>
          </a:solidFill>
          <a:ln w="12700">
            <a:solidFill>
              <a:srgbClr val="DDF8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320040"/>
            <a:ext cx="964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7C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GUIA DE USO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8912" y="694944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hierarquia e animações discretas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978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para manter consistência em futuras atualizações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173968" y="3474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3968" y="347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341985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691640"/>
            <a:ext cx="64008" cy="1463040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62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221992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 #071A2B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 #18C58F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 #0F5FFF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 #F4F7FA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3337560"/>
            <a:ext cx="341985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3337560"/>
            <a:ext cx="64008" cy="1463040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021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Tipografia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867912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Bold — títulos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SemiBold — chamadas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 — corpo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 recomendado: 18 pt em tela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42232" y="1691640"/>
            <a:ext cx="341985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42232" y="1691640"/>
            <a:ext cx="64008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18562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visual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98264" y="2221992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mensagem principal por slide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elementos prioritários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alto e espaço negativo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antes de decoração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42232" y="3337560"/>
            <a:ext cx="3419856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42232" y="3337560"/>
            <a:ext cx="64008" cy="1463040"/>
          </a:xfrm>
          <a:prstGeom prst="rect">
            <a:avLst/>
          </a:prstGeom>
          <a:solidFill>
            <a:srgbClr val="0F5FFF"/>
          </a:solidFill>
          <a:ln w="12700">
            <a:solidFill>
              <a:srgbClr val="0F5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35021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Acessibilidade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98264" y="3867912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depender apenas de cor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consistente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da esquerda para a direita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curtos em tela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08976" y="1691640"/>
            <a:ext cx="3419856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8976" y="1691640"/>
            <a:ext cx="64008" cy="3108960"/>
          </a:xfrm>
          <a:prstGeom prst="rect">
            <a:avLst/>
          </a:prstGeom>
          <a:solidFill>
            <a:srgbClr val="18C58F"/>
          </a:solidFill>
          <a:ln w="12700">
            <a:solidFill>
              <a:srgbClr val="18C58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8562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Animações sugeridas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65008" y="2221992"/>
            <a:ext cx="29626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Transição: Fade, 0,3–0,5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tempo: Wipe horizontal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Cards: Aparecer por grupo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Fluxos: sequência da esquerda para a direita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042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Evitar: zoom, bounce, som, rotação, transição automática.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" y="5102352"/>
            <a:ext cx="10963656" cy="438912"/>
          </a:xfrm>
          <a:prstGeom prst="roundRect">
            <a:avLst>
              <a:gd name="adj" fmla="val 25000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10235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OURO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938528" y="510235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Animação deve revelar a lógica da mensagem — nunca competir com ela.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573328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6D7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Preservar a qualidade visual e orientar atualizações no PowerPoint.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38912" y="5989320"/>
            <a:ext cx="11301984" cy="347472"/>
          </a:xfrm>
          <a:prstGeom prst="roundRect">
            <a:avLst>
              <a:gd name="adj" fmla="val 26316"/>
            </a:avLst>
          </a:prstGeom>
          <a:solidFill>
            <a:srgbClr val="071A2B"/>
          </a:solidFill>
          <a:ln w="12700">
            <a:solidFill>
              <a:srgbClr val="071A2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89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8C5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865376" y="598932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Consistência e simplicidade reforçam credibilidade executiva.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6A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Netfive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TruckPag + Axur — Encerramento da Implementação</dc:title>
  <dc:subject>Encerramento da implementação do Projeto TruckPag + Axur</dc:subject>
  <dc:creator>Netfive | CTI &amp; Digital Risk Protection</dc:creator>
  <cp:lastModifiedBy>Netfive | CTI &amp; Digital Risk Protection</cp:lastModifiedBy>
  <cp:revision>1</cp:revision>
  <dcterms:created xsi:type="dcterms:W3CDTF">2026-07-29T19:48:42Z</dcterms:created>
  <dcterms:modified xsi:type="dcterms:W3CDTF">2026-07-29T19:48:42Z</dcterms:modified>
</cp:coreProperties>
</file>