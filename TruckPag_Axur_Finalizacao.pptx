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6D0A14"/>
          </a:solidFill>
          <a:ln>
            <a:solidFill>
              <a:srgbClr val="6D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7F7F8"/>
                </a:solidFill>
                <a:latin typeface="Aptos"/>
              </a:rPr>
              <a:t>netfive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4D78F"/>
                </a:solidFill>
                <a:latin typeface="Aptos"/>
              </a:rPr>
              <a:t>TruckPag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2630"/>
                </a:solidFill>
                <a:latin typeface="Aptos"/>
              </a:rPr>
              <a:t>ENCERRAMENTO DA IMPLEMENTAÇÃO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7F7F8"/>
                </a:solidFill>
                <a:latin typeface="Aptos"/>
              </a:rPr>
              <a:t>TruckPag × Axur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815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AEB1B8"/>
                </a:solidFill>
                <a:latin typeface="Aptos"/>
              </a:rPr>
              <a:t>Proteção de Presença Digital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977639"/>
            <a:ext cx="5550407" cy="381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51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7F8"/>
                </a:solidFill>
                <a:latin typeface="Aptos"/>
              </a:rPr>
              <a:t>Finalização após o Follow-up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6451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1B8"/>
                </a:solidFill>
                <a:latin typeface="Aptos"/>
              </a:rPr>
              <a:t>Validações pendentes e próximos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5332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JULHO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7F7F8"/>
                </a:solidFill>
                <a:latin typeface="Aptos"/>
              </a:rPr>
              <a:t>RESILIÊNCIA
DIGITAL
ATIVADA.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NETFIVE  ×  TRUCKPAG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56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AEB1B8"/>
                </a:solidFill>
                <a:latin typeface="Aptos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1B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VISÃO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7F7F8"/>
                </a:solidFill>
                <a:latin typeface="Aptos"/>
              </a:rPr>
              <a:t>A implementação está na etapa de finalização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EB1B8"/>
                </a:solidFill>
                <a:latin typeface="Aptos"/>
              </a:rPr>
              <a:t>Não houve um terceiro follow-up. O encerramento acontece após o Follow-up 2.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794760"/>
            <a:ext cx="10058400" cy="63500"/>
          </a:xfrm>
          <a:prstGeom prst="rect">
            <a:avLst/>
          </a:prstGeom>
          <a:solidFill>
            <a:srgbClr val="1D1E23"/>
          </a:solidFill>
          <a:ln>
            <a:solidFill>
              <a:srgbClr val="1D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401568"/>
            <a:ext cx="777240" cy="777240"/>
          </a:xfrm>
          <a:prstGeom prst="ellipse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8090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434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8"/>
                </a:solidFill>
                <a:latin typeface="Aptos"/>
              </a:rPr>
              <a:t>Kickoff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1888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4D78F"/>
                </a:solidFill>
                <a:latin typeface="Aptos"/>
              </a:rPr>
              <a:t>CONCLUÍDO</a:t>
            </a:r>
          </a:p>
        </p:txBody>
      </p:sp>
      <p:sp>
        <p:nvSpPr>
          <p:cNvPr id="14" name="Oval 13"/>
          <p:cNvSpPr/>
          <p:nvPr/>
        </p:nvSpPr>
        <p:spPr>
          <a:xfrm>
            <a:off x="3401568" y="3401568"/>
            <a:ext cx="777240" cy="777240"/>
          </a:xfrm>
          <a:prstGeom prst="ellipse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364845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8090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43434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8"/>
                </a:solidFill>
                <a:latin typeface="Aptos"/>
              </a:rPr>
              <a:t>Configuração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481888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4D78F"/>
                </a:solidFill>
                <a:latin typeface="Aptos"/>
              </a:rPr>
              <a:t>CONCLUÍDO</a:t>
            </a:r>
          </a:p>
        </p:txBody>
      </p:sp>
      <p:sp>
        <p:nvSpPr>
          <p:cNvPr id="18" name="Oval 17"/>
          <p:cNvSpPr/>
          <p:nvPr/>
        </p:nvSpPr>
        <p:spPr>
          <a:xfrm>
            <a:off x="5888736" y="3401568"/>
            <a:ext cx="777240" cy="777240"/>
          </a:xfrm>
          <a:prstGeom prst="ellipse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64845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8090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43434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8"/>
                </a:solidFill>
                <a:latin typeface="Aptos"/>
              </a:rPr>
              <a:t>Follow-up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481888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4D78F"/>
                </a:solidFill>
                <a:latin typeface="Aptos"/>
              </a:rPr>
              <a:t>CONCLUÍDO</a:t>
            </a:r>
          </a:p>
        </p:txBody>
      </p:sp>
      <p:sp>
        <p:nvSpPr>
          <p:cNvPr id="22" name="Oval 21"/>
          <p:cNvSpPr/>
          <p:nvPr/>
        </p:nvSpPr>
        <p:spPr>
          <a:xfrm>
            <a:off x="8375904" y="3401568"/>
            <a:ext cx="777240" cy="777240"/>
          </a:xfrm>
          <a:prstGeom prst="ellipse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364845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8090B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3434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8"/>
                </a:solidFill>
                <a:latin typeface="Aptos"/>
              </a:rPr>
              <a:t>Follow-up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481888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4D78F"/>
                </a:solidFill>
                <a:latin typeface="Aptos"/>
              </a:rPr>
              <a:t>CONCLUÍDO</a:t>
            </a:r>
          </a:p>
        </p:txBody>
      </p:sp>
      <p:sp>
        <p:nvSpPr>
          <p:cNvPr id="26" name="Oval 25"/>
          <p:cNvSpPr/>
          <p:nvPr/>
        </p:nvSpPr>
        <p:spPr>
          <a:xfrm>
            <a:off x="10863072" y="3401568"/>
            <a:ext cx="777240" cy="777240"/>
          </a:xfrm>
          <a:prstGeom prst="ellipse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3072" y="364845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43434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7F7F8"/>
                </a:solidFill>
                <a:latin typeface="Aptos"/>
              </a:rPr>
              <a:t>Finalização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98480" y="4736592"/>
            <a:ext cx="1115568" cy="310896"/>
          </a:xfrm>
          <a:prstGeom prst="round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4791455"/>
            <a:ext cx="11155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ESTAMOS AQUI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NETFIVE  ×  TRUCKPAG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56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AEB1B8"/>
                </a:solidFill>
                <a:latin typeface="Aptos"/>
              </a:rPr>
              <a:t>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1B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RESUMO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7F7F8"/>
                </a:solidFill>
                <a:latin typeface="Aptos"/>
              </a:rPr>
              <a:t>O foco agora é validar e decidir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EB1B8"/>
                </a:solidFill>
                <a:latin typeface="Aptos"/>
              </a:rPr>
              <a:t>A plataforma já gerou sinais úteis; o encerramento depende de decisões da TruckPag.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3520440" cy="242316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4864" cy="2423160"/>
          </a:xfrm>
          <a:prstGeom prst="roundRect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78F"/>
                </a:solidFill>
                <a:latin typeface="Aptos"/>
              </a:rPr>
              <a:t>ATIVADO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8"/>
                </a:solidFill>
                <a:latin typeface="Aptos"/>
              </a:rPr>
              <a:t>Monitoramento 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A jornada de implantação e os dois follow-ups foram concluídos.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651760"/>
            <a:ext cx="3520440" cy="242316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651760"/>
            <a:ext cx="54864" cy="2423160"/>
          </a:xfrm>
          <a:prstGeom prst="round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85292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B020"/>
                </a:solidFill>
                <a:latin typeface="Aptos"/>
              </a:rPr>
              <a:t>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8"/>
                </a:solidFill>
                <a:latin typeface="Aptos"/>
              </a:rPr>
              <a:t>Proteção de Marca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11880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Revisar os achados detectados e confirmar a tratativa dos tickets.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651760"/>
            <a:ext cx="3520440" cy="242316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651760"/>
            <a:ext cx="54864" cy="2423160"/>
          </a:xfrm>
          <a:prstGeom prst="round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85292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22630"/>
                </a:solidFill>
                <a:latin typeface="Aptos"/>
              </a:rPr>
              <a:t>DECIDIR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1546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8"/>
                </a:solidFill>
                <a:latin typeface="Aptos"/>
              </a:rPr>
              <a:t>OnePixel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611880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Definir se a funcionalidade será implementada ou ficará fora do escopo atual.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76672"/>
            <a:ext cx="10927080" cy="621792"/>
          </a:xfrm>
          <a:prstGeom prst="roundRect">
            <a:avLst/>
          </a:prstGeom>
          <a:solidFill>
            <a:srgbClr val="1D1E23"/>
          </a:solidFill>
          <a:ln>
            <a:solidFill>
              <a:srgbClr val="1D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78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22630"/>
                </a:solidFill>
                <a:latin typeface="Aptos"/>
              </a:rPr>
              <a:t>RESULTADO ESPERADO  </a:t>
            </a:r>
            <a:r>
              <a:rPr sz="1300" b="0">
                <a:solidFill>
                  <a:srgbClr val="F7F7F8"/>
                </a:solidFill>
                <a:latin typeface="Aptos"/>
              </a:rPr>
              <a:t>encerrar a implantação com responsáveis, decisões e próximos passos registrados.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NETFIVE  ×  TRUCKPAG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56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AEB1B8"/>
                </a:solidFill>
                <a:latin typeface="Aptos"/>
              </a:rPr>
              <a:t>PROTEÇÃO DE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1B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ACHADOS IDENTIFICADOS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7F7F8"/>
                </a:solidFill>
                <a:latin typeface="Aptos"/>
              </a:rPr>
              <a:t>Proteção de Marca exige validação da TruckPag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EB1B8"/>
                </a:solidFill>
                <a:latin typeface="Aptos"/>
              </a:rPr>
              <a:t>A visão compartilhada da plataforma apresentava 8 tickets abertos.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6949440" cy="832104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852928"/>
            <a:ext cx="438912" cy="310896"/>
          </a:xfrm>
          <a:prstGeom prst="round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Phishing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07208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Página “Gestão de Pedágio – PagPedágio”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6949440" cy="832104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904487"/>
            <a:ext cx="438912" cy="310896"/>
          </a:xfrm>
          <a:prstGeom prst="round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9351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404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Domínio similar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58768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Registro associado a truckpag.notion.site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6949440" cy="832104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956048"/>
            <a:ext cx="438912" cy="310896"/>
          </a:xfrm>
          <a:prstGeom prst="roundRect">
            <a:avLst/>
          </a:prstGeom>
          <a:solidFill>
            <a:srgbClr val="4491FF"/>
          </a:solidFill>
          <a:ln>
            <a:solidFill>
              <a:srgbClr val="4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1091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9204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Perfil falso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910328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Ocorrência em rede social /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2606040"/>
            <a:ext cx="3657600" cy="2935224"/>
          </a:xfrm>
          <a:prstGeom prst="roundRect">
            <a:avLst/>
          </a:prstGeom>
          <a:solidFill>
            <a:srgbClr val="6D0A14"/>
          </a:solidFill>
          <a:ln>
            <a:solidFill>
              <a:srgbClr val="6D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9077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VALIDAÇÃO NECESSÁRIA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337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8"/>
                </a:solidFill>
                <a:latin typeface="Aptos"/>
              </a:rPr>
              <a:t>Para cada ticket: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94760"/>
            <a:ext cx="28346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7F7F8"/>
                </a:solidFill>
                <a:latin typeface="Aptos"/>
              </a:rPr>
              <a:t>• confirmar legitimidade
• definir prioridade
• aprovar tratativa
• indicar responsável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EB1B8"/>
                </a:solidFill>
                <a:latin typeface="Aptos"/>
              </a:rPr>
              <a:t>Contagens conforme evidências fornecidas; confirmar o status ao vivo no encerramento.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NETFIVE  ×  TRUCKPAG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56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AEB1B8"/>
                </a:solidFill>
                <a:latin typeface="Aptos"/>
              </a:rPr>
              <a:t>SUPERFÍCIES MONITORADAS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1B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VISIBILIDADE AMPLIADA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7F7F8"/>
                </a:solidFill>
                <a:latin typeface="Aptos"/>
              </a:rPr>
              <a:t>Outros sinais disponíveis na 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EB1B8"/>
                </a:solidFill>
                <a:latin typeface="Aptos"/>
              </a:rPr>
              <a:t>Os módulos complementam a visão de risco e ajudam a priorizar respostas.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5257800" cy="256032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54864" cy="2560320"/>
          </a:xfrm>
          <a:prstGeom prst="round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B020"/>
                </a:solidFill>
                <a:latin typeface="Aptos"/>
              </a:rPr>
              <a:t>VAZAMENTO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8"/>
                </a:solidFill>
                <a:latin typeface="Aptos"/>
              </a:rPr>
              <a:t>1 menção observada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48006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A evidência compartilhada mostra um arquivo associado ao termo “Truckpag”, com status “Novo”. Validar o conteúdo da amostra e a necessidade de resposta.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06040"/>
            <a:ext cx="5440680" cy="256032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864" cy="2560320"/>
          </a:xfrm>
          <a:prstGeom prst="roundRect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072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78F"/>
                </a:solidFill>
                <a:latin typeface="Aptos"/>
              </a:rPr>
              <a:t>DEEP &amp; DARK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7F8"/>
                </a:solidFill>
                <a:latin typeface="Aptos"/>
              </a:rPr>
              <a:t>Nenhum ticket na visão apresentada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66160"/>
            <a:ext cx="498348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1B8"/>
                </a:solidFill>
                <a:latin typeface="Aptos"/>
              </a:rPr>
              <a:t>A tela compartilhada não exibia resultados. Manter o monitoramento contínuo após o encerramento da implantação.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595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22630"/>
                </a:solidFill>
                <a:latin typeface="Aptos"/>
              </a:rPr>
              <a:t>AÇÃO RECOMENDADA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5513832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Registrar a conclusão da análise e o responsável por cada sinal.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NETFIVE  ×  TRUCKPAG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56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AEB1B8"/>
                </a:solidFill>
                <a:latin typeface="Aptos"/>
              </a:rPr>
              <a:t>ONEPIXEL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1B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DECISÃO PENDENTE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7F7F8"/>
                </a:solidFill>
                <a:latin typeface="Aptos"/>
              </a:rPr>
              <a:t>OnePixel: implementar ou manter fora do escopo?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EB1B8"/>
                </a:solidFill>
                <a:latin typeface="Aptos"/>
              </a:rPr>
              <a:t>A TruckPag precisa confirmar a decisão para que o projeto seja formalmente encerrado.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5257800" cy="233172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1051560" cy="310896"/>
          </a:xfrm>
          <a:prstGeom prst="roundRect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1051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OPÇÃO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7F7F8"/>
                </a:solidFill>
                <a:latin typeface="Aptos"/>
              </a:rPr>
              <a:t>Implementar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1B8"/>
                </a:solidFill>
                <a:latin typeface="Aptos"/>
              </a:rPr>
              <a:t>• definir objetivo e escopo
• validar requisitos técnicos
• nomear responsáveis
• acordar data de ativação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560320"/>
            <a:ext cx="5440680" cy="2331720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834640"/>
            <a:ext cx="1051560" cy="310896"/>
          </a:xfrm>
          <a:prstGeom prst="round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89504"/>
            <a:ext cx="1051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OPÇÃO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101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7F7F8"/>
                </a:solidFill>
                <a:latin typeface="Aptos"/>
              </a:rPr>
              <a:t>Não implementar agora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6732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1B8"/>
                </a:solidFill>
                <a:latin typeface="Aptos"/>
              </a:rPr>
              <a:t>• registrar a decisão
• documentar a justificativa
• manter como evolução futura
• definir gatilho para reavaliação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10927080" cy="685800"/>
          </a:xfrm>
          <a:prstGeom prst="roundRect">
            <a:avLst/>
          </a:prstGeom>
          <a:solidFill>
            <a:srgbClr val="6D0A14"/>
          </a:solidFill>
          <a:ln>
            <a:solidFill>
              <a:srgbClr val="6D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DECISÃO DA TRUCKPAG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5431536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7F8"/>
                </a:solidFill>
                <a:latin typeface="Aptos"/>
              </a:rPr>
              <a:t>☐ Implementar   ☐ Não implementar agora   |   Responsável: __________   Data: ___/___/___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1B8"/>
                </a:solidFill>
                <a:latin typeface="Aptos"/>
              </a:rPr>
              <a:t>NETFIVE  ×  TRUCKPAG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56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AEB1B8"/>
                </a:solidFill>
                <a:latin typeface="Aptos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1B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CHECKLIST DE CONCLUSÃO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7F7F8"/>
                </a:solidFill>
                <a:latin typeface="Aptos"/>
              </a:rPr>
              <a:t>O que falta para finalizar a implementação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EB1B8"/>
                </a:solidFill>
                <a:latin typeface="Aptos"/>
              </a:rPr>
              <a:t>Quatro confirmações objetivas encerram o ciclo e iniciam a operação contínua.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927080" cy="612648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670048"/>
            <a:ext cx="438912" cy="310896"/>
          </a:xfrm>
          <a:prstGeom prst="round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70048"/>
            <a:ext cx="6720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Validar os tickets de Proteção de Marca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88336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B020"/>
                </a:solidFill>
                <a:latin typeface="Aptos"/>
              </a:rPr>
              <a:t>TRUCKPAG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10927080" cy="612648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493008"/>
            <a:ext cx="438912" cy="310896"/>
          </a:xfrm>
          <a:prstGeom prst="round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4787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93008"/>
            <a:ext cx="6720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Definir a tratativa para cada ocorrência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11296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22630"/>
                </a:solidFill>
                <a:latin typeface="Aptos"/>
              </a:rPr>
              <a:t>TRUCKPAG + NETFIVE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10927080" cy="612648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315968"/>
            <a:ext cx="438912" cy="310896"/>
          </a:xfrm>
          <a:prstGeom prst="roundRect">
            <a:avLst/>
          </a:prstGeom>
          <a:solidFill>
            <a:srgbClr val="4491FF"/>
          </a:solidFill>
          <a:ln>
            <a:solidFill>
              <a:srgbClr val="4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70831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15968"/>
            <a:ext cx="6720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Decidir sobre a implementação do OnePixel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34256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4491FF"/>
                </a:solidFill>
                <a:latin typeface="Aptos"/>
              </a:rPr>
              <a:t>TRUCKPAG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927080" cy="612648"/>
          </a:xfrm>
          <a:prstGeom prst="roundRect">
            <a:avLst/>
          </a:prstGeom>
          <a:solidFill>
            <a:srgbClr val="141519"/>
          </a:solidFill>
          <a:ln>
            <a:solidFill>
              <a:srgbClr val="141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138928"/>
            <a:ext cx="438912" cy="310896"/>
          </a:xfrm>
          <a:prstGeom prst="roundRect">
            <a:avLst/>
          </a:prstGeom>
          <a:solidFill>
            <a:srgbClr val="34D78F"/>
          </a:solidFill>
          <a:ln>
            <a:solidFill>
              <a:srgbClr val="34D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9379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7F8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138928"/>
            <a:ext cx="6720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Registrar responsáveis e aceite de encerramento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57216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4D78F"/>
                </a:solidFill>
                <a:latin typeface="Aptos"/>
              </a:rPr>
              <a:t>TRUCKPAG + NETFIVE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6188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22630"/>
                </a:solidFill>
                <a:latin typeface="Aptos"/>
              </a:rPr>
              <a:t>SAÍDA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90702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7F8"/>
                </a:solidFill>
                <a:latin typeface="Aptos"/>
              </a:rPr>
              <a:t>Implantação encerrada → operação e acompanhamento contínuos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2630"/>
                </a:solidFill>
                <a:latin typeface="Aptos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7F7F8"/>
                </a:solidFill>
                <a:latin typeface="Aptos"/>
              </a:rPr>
              <a:t>Decisões claras.
Proteção contínua.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401568"/>
            <a:ext cx="8138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AEB1B8"/>
                </a:solidFill>
                <a:latin typeface="Aptos"/>
              </a:rPr>
              <a:t>Próximo passo: concluir as validações e registrar o aceite da TruckPag.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4233672"/>
            <a:ext cx="4636008" cy="38100"/>
          </a:xfrm>
          <a:prstGeom prst="rect">
            <a:avLst/>
          </a:prstGeom>
          <a:solidFill>
            <a:srgbClr val="E22630"/>
          </a:solidFill>
          <a:ln>
            <a:solidFill>
              <a:srgbClr val="E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617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F7F8"/>
                </a:solidFill>
                <a:latin typeface="Aptos"/>
              </a:rPr>
              <a:t>NETFIVE  ×  TRUCKPAG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5166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E22630"/>
                </a:solidFill>
                <a:latin typeface="Aptos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TruckPag × Axur — Finalização da Implementação</dc:title>
  <dc:subject>Validações pendentes de Proteção de Marca e OnePixel</dc:subject>
  <dc:creator>Netfive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